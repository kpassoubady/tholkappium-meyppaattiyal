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E50D10-C302-48FD-A10B-A0DB09B26023}">
  <a:tblStyle styleId="{A7E50D10-C302-48FD-A10B-A0DB09B26023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29"/>
  </p:normalViewPr>
  <p:slideViewPr>
    <p:cSldViewPr snapToGrid="0">
      <p:cViewPr varScale="1">
        <p:scale>
          <a:sx n="95" d="100"/>
          <a:sy n="95" d="100"/>
        </p:scale>
        <p:origin x="200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1168125" y="6228375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168125" y="6228375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௧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>
            <a:off x="666750" y="328725"/>
            <a:ext cx="5076825" cy="523800"/>
            <a:chOff x="0" y="-99900"/>
            <a:chExt cx="5076825" cy="5238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5048400" cy="324000"/>
            </a:xfrm>
            <a:prstGeom prst="roundRect">
              <a:avLst>
                <a:gd name="adj" fmla="val 50000"/>
              </a:avLst>
            </a:prstGeom>
            <a:solidFill>
              <a:srgbClr val="14494B"/>
            </a:solidFill>
            <a:ln w="9525" cap="flat" cmpd="sng">
              <a:solidFill>
                <a:srgbClr val="F0B4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99900"/>
              <a:ext cx="5076825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 dirty="0" err="1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தொ.மா</a:t>
              </a:r>
              <a:r>
                <a:rPr lang="en-US" sz="1018" b="1" dirty="0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. 2098 · 2ஆவது </a:t>
              </a:r>
              <a:r>
                <a:rPr lang="en-US" sz="1018" b="1" dirty="0" err="1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உலகத்</a:t>
              </a:r>
              <a:r>
                <a:rPr lang="en-US" sz="1018" b="1" dirty="0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18" b="1" dirty="0" err="1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தொல்காப்பிய</a:t>
              </a:r>
              <a:r>
                <a:rPr lang="en-US" sz="1018" b="1" dirty="0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18" b="1" dirty="0" err="1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ஆராய்ச்சி</a:t>
              </a:r>
              <a:r>
                <a:rPr lang="en-US" sz="1018" b="1" dirty="0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018" b="1" dirty="0" err="1">
                  <a:solidFill>
                    <a:srgbClr val="F0B429"/>
                  </a:solidFill>
                  <a:latin typeface="Arial"/>
                  <a:ea typeface="Arial"/>
                  <a:cs typeface="Arial"/>
                  <a:sym typeface="Arial"/>
                </a:rPr>
                <a:t>மாநாடு</a:t>
              </a:r>
              <a:endParaRPr sz="1018" b="1" dirty="0">
                <a:solidFill>
                  <a:srgbClr val="F0B4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666750" y="933450"/>
            <a:ext cx="7239000" cy="16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F0B429"/>
                </a:solidFill>
                <a:latin typeface="Arial"/>
                <a:ea typeface="Arial"/>
                <a:cs typeface="Arial"/>
                <a:sym typeface="Arial"/>
              </a:rPr>
              <a:t>செய்யறிவும்</a:t>
            </a:r>
            <a:r>
              <a:rPr lang="en-US" sz="3000" b="1" dirty="0">
                <a:solidFill>
                  <a:srgbClr val="F0B4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1" dirty="0" err="1">
                <a:solidFill>
                  <a:srgbClr val="F0B429"/>
                </a:solidFill>
                <a:latin typeface="Arial"/>
                <a:ea typeface="Arial"/>
                <a:cs typeface="Arial"/>
                <a:sym typeface="Arial"/>
              </a:rPr>
              <a:t>செம்மொழியும்</a:t>
            </a:r>
            <a:r>
              <a:rPr lang="en-US" sz="3000" b="1" dirty="0">
                <a:solidFill>
                  <a:srgbClr val="F0B42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3000" b="1" dirty="0">
              <a:solidFill>
                <a:srgbClr val="F0B4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மெய்ப்பாட்டியல்</a:t>
            </a:r>
            <a:r>
              <a:rPr lang="en-US" sz="2400" b="1" dirty="0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மற்றும்</a:t>
            </a:r>
            <a:r>
              <a:rPr lang="en-US" sz="2400" b="1" dirty="0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உணர்வுக்</a:t>
            </a:r>
            <a:r>
              <a:rPr lang="en-US" sz="2400" b="1" dirty="0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கண்டறிதல்</a:t>
            </a:r>
            <a:endParaRPr sz="2400" b="1" dirty="0">
              <a:solidFill>
                <a:srgbClr val="FFFAF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தொழில்நுட்பங்களின்</a:t>
            </a:r>
            <a:r>
              <a:rPr lang="en-US" sz="2000" b="1" dirty="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இணை</a:t>
            </a:r>
            <a:r>
              <a:rPr lang="en-US" sz="2000" b="1" dirty="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வளர்ச்சிப்</a:t>
            </a:r>
            <a:r>
              <a:rPr lang="en-US" sz="2000" b="1" dirty="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பார்வை</a:t>
            </a:r>
            <a:endParaRPr sz="2000" b="1" dirty="0">
              <a:solidFill>
                <a:srgbClr val="E2E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6750" y="2714625"/>
            <a:ext cx="7239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AI and Classical Language: A Parallel Development Perspective on</a:t>
            </a:r>
            <a:endParaRPr sz="1300" b="0" i="1">
              <a:solidFill>
                <a:srgbClr val="F7D0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300" b="0" i="1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Meyppaattiyal and Emotion Detection</a:t>
            </a:r>
            <a:endParaRPr sz="1300" b="0" i="1">
              <a:solidFill>
                <a:srgbClr val="F7D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66750" y="3352800"/>
            <a:ext cx="1905000" cy="285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13"/>
          <p:cNvGrpSpPr/>
          <p:nvPr/>
        </p:nvGrpSpPr>
        <p:grpSpPr>
          <a:xfrm>
            <a:off x="8201025" y="723900"/>
            <a:ext cx="3228975" cy="3876675"/>
            <a:chOff x="-85725" y="-85725"/>
            <a:chExt cx="3228975" cy="3876675"/>
          </a:xfrm>
        </p:grpSpPr>
        <p:pic>
          <p:nvPicPr>
            <p:cNvPr id="94" name="Google Shape;94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85725" y="-85725"/>
              <a:ext cx="3219600" cy="386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3"/>
            <p:cNvSpPr/>
            <p:nvPr/>
          </p:nvSpPr>
          <p:spPr>
            <a:xfrm>
              <a:off x="0" y="0"/>
              <a:ext cx="3048000" cy="3695700"/>
            </a:xfrm>
            <a:prstGeom prst="roundRect">
              <a:avLst>
                <a:gd name="adj" fmla="val 7500"/>
              </a:avLst>
            </a:prstGeom>
            <a:solidFill>
              <a:srgbClr val="14494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13"/>
            <p:cNvPicPr preferRelativeResize="0"/>
            <p:nvPr/>
          </p:nvPicPr>
          <p:blipFill rotWithShape="1">
            <a:blip r:embed="rId4">
              <a:alphaModFix/>
            </a:blip>
            <a:srcRect l="455" r="-6163" b="-5430"/>
            <a:stretch/>
          </p:blipFill>
          <p:spPr>
            <a:xfrm>
              <a:off x="95250" y="95250"/>
              <a:ext cx="3048000" cy="3695700"/>
            </a:xfrm>
            <a:prstGeom prst="roundRect">
              <a:avLst>
                <a:gd name="adj" fmla="val 7500"/>
              </a:avLst>
            </a:prstGeom>
            <a:noFill/>
            <a:ln>
              <a:noFill/>
            </a:ln>
          </p:spPr>
        </p:pic>
      </p:grpSp>
      <p:sp>
        <p:nvSpPr>
          <p:cNvPr id="97" name="Google Shape;97;p13"/>
          <p:cNvSpPr/>
          <p:nvPr/>
        </p:nvSpPr>
        <p:spPr>
          <a:xfrm>
            <a:off x="666750" y="3619500"/>
            <a:ext cx="7239000" cy="2238300"/>
          </a:xfrm>
          <a:prstGeom prst="roundRect">
            <a:avLst>
              <a:gd name="adj" fmla="val 6808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52500" y="3810000"/>
            <a:ext cx="32385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ஆசிரியர்: </a:t>
            </a:r>
            <a:endParaRPr sz="1200" b="1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காங்கேயன் பசுபதி (Kangeyan Passoubady)</a:t>
            </a:r>
            <a:endParaRPr sz="1200" b="1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66750" y="6143625"/>
            <a:ext cx="723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rPr>
              <a:t>ஆராய்ச்சித் தாள் சமர்ப்பணம் · Research Paper Presentation</a:t>
            </a:r>
            <a:endParaRPr sz="1200" b="1">
              <a:solidFill>
                <a:srgbClr val="F0B42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கட்டுரையின் உள்ளடக்கம்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What this talk covers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02 / 10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523875" y="1962150"/>
            <a:ext cx="5429400" cy="1200300"/>
            <a:chOff x="0" y="0"/>
            <a:chExt cx="5429400" cy="12003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" name="Google Shape;115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முன்னுரை &amp; நோக்கம்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Introduction &amp; Objective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6238875" y="1962150"/>
            <a:ext cx="5429400" cy="1200300"/>
            <a:chOff x="0" y="0"/>
            <a:chExt cx="5429400" cy="1200300"/>
          </a:xfrm>
        </p:grpSpPr>
        <p:sp>
          <p:nvSpPr>
            <p:cNvPr id="117" name="Google Shape;117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02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எண்வகை மெய்ப்பாடு ↔ ஏக்மன் உணர்வுகள்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8 Meyppadu ↔ Ekman Emotions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14"/>
          <p:cNvGrpSpPr/>
          <p:nvPr/>
        </p:nvGrpSpPr>
        <p:grpSpPr>
          <a:xfrm>
            <a:off x="523875" y="3333750"/>
            <a:ext cx="5429400" cy="1200300"/>
            <a:chOff x="0" y="0"/>
            <a:chExt cx="5429400" cy="1200300"/>
          </a:xfrm>
        </p:grpSpPr>
        <p:sp>
          <p:nvSpPr>
            <p:cNvPr id="122" name="Google Shape;122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03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" name="Google Shape;125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மருட்கை ↔ இயல்பு விலகல் கண்டறிதல்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Marutkai ↔ Anomaly Detection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6238875" y="3333750"/>
            <a:ext cx="5429400" cy="1200300"/>
            <a:chOff x="0" y="0"/>
            <a:chExt cx="5429400" cy="1200300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04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0" name="Google Shape;130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32 நிலைகள் ↔ நிலை இயந்திரம் (FSM)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32 States ↔ Finite State Machine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4"/>
          <p:cNvGrpSpPr/>
          <p:nvPr/>
        </p:nvGrpSpPr>
        <p:grpSpPr>
          <a:xfrm>
            <a:off x="523875" y="4705350"/>
            <a:ext cx="5429400" cy="1200300"/>
            <a:chOff x="0" y="0"/>
            <a:chExt cx="5429400" cy="1200300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05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கட்டமைப்பும் TPS ஒருங்கிணைப்பும்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Architecture &amp; TPS Integration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6238875" y="4705350"/>
            <a:ext cx="5429400" cy="1200300"/>
            <a:chOff x="0" y="0"/>
            <a:chExt cx="5429400" cy="1200300"/>
          </a:xfrm>
        </p:grpSpPr>
        <p:sp>
          <p:nvSpPr>
            <p:cNvPr id="137" name="Google Shape;137;p14"/>
            <p:cNvSpPr/>
            <p:nvPr/>
          </p:nvSpPr>
          <p:spPr>
            <a:xfrm>
              <a:off x="0" y="0"/>
              <a:ext cx="5429400" cy="1200300"/>
            </a:xfrm>
            <a:prstGeom prst="roundRect">
              <a:avLst>
                <a:gd name="adj" fmla="val 1111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152400" y="152400"/>
              <a:ext cx="609600" cy="895500"/>
            </a:xfrm>
            <a:prstGeom prst="roundRect">
              <a:avLst>
                <a:gd name="adj" fmla="val 15625"/>
              </a:avLst>
            </a:prstGeom>
            <a:solidFill>
              <a:srgbClr val="0B343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 txBox="1"/>
            <p:nvPr/>
          </p:nvSpPr>
          <p:spPr>
            <a:xfrm>
              <a:off x="152400" y="152400"/>
              <a:ext cx="609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>
                  <a:solidFill>
                    <a:srgbClr val="F0B429"/>
                  </a:solidFill>
                  <a:latin typeface="Consolas"/>
                  <a:ea typeface="Consolas"/>
                  <a:cs typeface="Consolas"/>
                  <a:sym typeface="Consolas"/>
                </a:rPr>
                <a:t>06</a:t>
              </a:r>
              <a:endParaRPr sz="2200" b="1">
                <a:solidFill>
                  <a:srgbClr val="F0B42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0" name="Google Shape;140;p14"/>
            <p:cNvSpPr txBox="1"/>
            <p:nvPr/>
          </p:nvSpPr>
          <p:spPr>
            <a:xfrm>
              <a:off x="914400" y="152400"/>
              <a:ext cx="43626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சவால்கள், தொகுப்புரை &amp; துணைநூல்</a:t>
              </a:r>
              <a:endParaRPr sz="16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Limitations, Conclusion &amp; References</a:t>
              </a:r>
              <a:endParaRPr sz="1200" i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4"/>
          <p:cNvSpPr txBox="1"/>
          <p:nvPr/>
        </p:nvSpPr>
        <p:spPr>
          <a:xfrm>
            <a:off x="5715000" y="333375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௧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௨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01 · INTRODUCTION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முன்னுரை மற்றும் ஆய்வின் நோக்கம்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Introduction and Research Objective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03 / 10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502920" y="1857375"/>
            <a:ext cx="5429400" cy="4191000"/>
          </a:xfrm>
          <a:prstGeom prst="roundRect">
            <a:avLst>
              <a:gd name="adj" fmla="val 3636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88670" y="20955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" name="Google Shape;156;p15"/>
          <p:cNvGrpSpPr/>
          <p:nvPr/>
        </p:nvGrpSpPr>
        <p:grpSpPr>
          <a:xfrm>
            <a:off x="788670" y="2095500"/>
            <a:ext cx="2095500" cy="304800"/>
            <a:chOff x="0" y="0"/>
            <a:chExt cx="2095500" cy="304800"/>
          </a:xfrm>
        </p:grpSpPr>
        <p:sp>
          <p:nvSpPr>
            <p:cNvPr id="157" name="Google Shape;157;p15"/>
            <p:cNvSpPr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பின்னணி · BACKGROUND</a:t>
              </a:r>
              <a:endParaRPr sz="105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59" name="Google Shape;159;p15"/>
          <p:cNvSpPr txBox="1"/>
          <p:nvPr/>
        </p:nvSpPr>
        <p:spPr>
          <a:xfrm>
            <a:off x="565750" y="2571750"/>
            <a:ext cx="5184000" cy="346248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9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மெய்ப்பாட்டியல்</a:t>
            </a:r>
            <a:endParaRPr sz="19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உணர்வுகள்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மெய்க்கண்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உடல்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வழி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தரவாக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வெளிப்படும்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அகப்புற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இணைப்புக்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கொள்கை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500" i="1" dirty="0" err="1">
                <a:solidFill>
                  <a:srgbClr val="5C5549"/>
                </a:solidFill>
                <a:latin typeface="Arial"/>
                <a:ea typeface="Arial"/>
                <a:cs typeface="Arial"/>
                <a:sym typeface="Arial"/>
              </a:rPr>
              <a:t>Meyppaattiyal</a:t>
            </a:r>
            <a:r>
              <a:rPr lang="en-US" sz="1500" i="1" dirty="0">
                <a:solidFill>
                  <a:srgbClr val="5C5549"/>
                </a:solidFill>
                <a:latin typeface="Arial"/>
                <a:ea typeface="Arial"/>
                <a:cs typeface="Arial"/>
                <a:sym typeface="Arial"/>
              </a:rPr>
              <a:t> models emotion as an inner</a:t>
            </a:r>
            <a:r>
              <a:rPr lang="en-US" sz="1500" i="1" dirty="0">
                <a:solidFill>
                  <a:srgbClr val="5C5549"/>
                </a:solidFill>
              </a:rPr>
              <a:t>-</a:t>
            </a:r>
            <a:r>
              <a:rPr lang="en-US" sz="1500" i="1" dirty="0">
                <a:solidFill>
                  <a:srgbClr val="5C5549"/>
                </a:solidFill>
                <a:latin typeface="Arial"/>
                <a:ea typeface="Arial"/>
                <a:cs typeface="Arial"/>
                <a:sym typeface="Arial"/>
              </a:rPr>
              <a:t>outer data coupling.</a:t>
            </a:r>
            <a:endParaRPr sz="1500" i="1" dirty="0">
              <a:solidFill>
                <a:srgbClr val="5C554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9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9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உணர்வுசார்</a:t>
            </a:r>
            <a:r>
              <a:rPr lang="en-US" sz="19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கணினியியல்</a:t>
            </a:r>
            <a:endParaRPr sz="19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இன்றைய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Affective Computing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இதே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சவாலை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எதிர்கொள்கிறது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9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9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இணை</a:t>
            </a:r>
            <a:r>
              <a:rPr lang="en-US" sz="19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வளர்ச்சி</a:t>
            </a:r>
            <a:endParaRPr sz="19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சுமார்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2000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ஆண்டுகள்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முன்பே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தொல்காப்பியம்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இணையான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தத்துவக்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கட்டமைப்பை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உருவாக்கியுள்ளது</a:t>
            </a:r>
            <a:r>
              <a:rPr lang="en-US" sz="16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259830" y="1857375"/>
            <a:ext cx="5429400" cy="4191000"/>
          </a:xfrm>
          <a:prstGeom prst="roundRect">
            <a:avLst>
              <a:gd name="adj" fmla="val 3636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6545580" y="2095500"/>
            <a:ext cx="20955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545580" y="2157007"/>
            <a:ext cx="2095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நோக்கம் · OBJECTIVE</a:t>
            </a:r>
            <a:endParaRPr sz="1050" b="1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90900" y="2571750"/>
            <a:ext cx="5184000" cy="332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dirty="0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[ 01 ]</a:t>
            </a:r>
            <a:endParaRPr sz="1500" i="0" dirty="0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வரைபடுத்துதல்</a:t>
            </a:r>
            <a:endParaRPr sz="18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மெய்ப்பாட்டியலின்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கருத்தாக்கச்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சட்டகத்தை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நவீன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சொல்லாடலில்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Mapping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செய்தல்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500" i="0" dirty="0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[ 02 ]</a:t>
            </a:r>
            <a:endParaRPr sz="1500" i="0" dirty="0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இணை</a:t>
            </a:r>
            <a:r>
              <a:rPr lang="en-US" sz="18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வளர்ச்சி</a:t>
            </a:r>
            <a:r>
              <a:rPr lang="en-US" sz="18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நிறுவுதல்</a:t>
            </a:r>
            <a:endParaRPr sz="18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8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மெய்ப்பாடு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மருட்கை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, 32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நிலை</a:t>
            </a:r>
            <a:r>
              <a:rPr lang="en-US" sz="1550" dirty="0" err="1">
                <a:solidFill>
                  <a:srgbClr val="1C1A14"/>
                </a:solidFill>
              </a:rPr>
              <a:t>-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நவீன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நுட்பங்களுக்கும்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இடையே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500" i="0" dirty="0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[ 03 ]</a:t>
            </a:r>
            <a:endParaRPr sz="1500" i="0" dirty="0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கட்டமைப்புத்</a:t>
            </a:r>
            <a:r>
              <a:rPr lang="en-US" sz="1800" i="0" dirty="0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dirty="0" err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rPr>
              <a:t>திட்டம்</a:t>
            </a:r>
            <a:endParaRPr sz="1800" i="0" dirty="0">
              <a:solidFill>
                <a:srgbClr val="8A2A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ஓர்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உணர்வுசார்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மாதிரியின்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ஆரம்பக்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கட்டமைப்பு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50" i="0" dirty="0" err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முன்வைத்தல்</a:t>
            </a:r>
            <a:r>
              <a:rPr lang="en-US" sz="1550" i="0" dirty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50" i="0" dirty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௩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02 · PARALLEL DEVELOPMENT I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எண்வகை மெய்ப்பாடும் முகபாவ அங்கீகாரமும்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Eight Meyppadu &amp; Facial Expression Recognition (FACS)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04 / 10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02920" y="1857375"/>
            <a:ext cx="5429400" cy="1047900"/>
          </a:xfrm>
          <a:prstGeom prst="roundRect">
            <a:avLst>
              <a:gd name="adj" fmla="val 10909"/>
            </a:avLst>
          </a:prstGeom>
          <a:solidFill>
            <a:srgbClr val="EEE7D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502920" y="1857375"/>
            <a:ext cx="47700" cy="1047900"/>
          </a:xfrm>
          <a:prstGeom prst="rect">
            <a:avLst/>
          </a:prstGeom>
          <a:solidFill>
            <a:srgbClr val="8A2A1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704088" y="1971675"/>
            <a:ext cx="5048400" cy="36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rPr>
              <a:t>“நகையே அழுகை இளிவரல் மருட்கை / அச்சம் பெருமிதம் வெகுளி உவகை என்று / அப் பால் எட்டே மெய்ப்பாடு என்ப”</a:t>
            </a:r>
            <a:endParaRPr sz="1190" b="0">
              <a:solidFill>
                <a:srgbClr val="1C1A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04088" y="2552700"/>
            <a:ext cx="50484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rPr>
              <a:t>தொல். பொ. 1194</a:t>
            </a:r>
            <a:endParaRPr sz="1050" b="1">
              <a:solidFill>
                <a:srgbClr val="8A2A1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502920" y="3048000"/>
            <a:ext cx="5429400" cy="3143400"/>
          </a:xfrm>
          <a:prstGeom prst="roundRect">
            <a:avLst>
              <a:gd name="adj" fmla="val 4848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788670" y="3219450"/>
            <a:ext cx="2286000" cy="2859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788670" y="3219450"/>
            <a:ext cx="2286000" cy="285900"/>
            <a:chOff x="0" y="0"/>
            <a:chExt cx="2286000" cy="285900"/>
          </a:xfrm>
        </p:grpSpPr>
        <p:sp>
          <p:nvSpPr>
            <p:cNvPr id="184" name="Google Shape;184;p16"/>
            <p:cNvSpPr/>
            <p:nvPr/>
          </p:nvSpPr>
          <p:spPr>
            <a:xfrm>
              <a:off x="0" y="0"/>
              <a:ext cx="2286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0" y="0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71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ஒப்பீட்டு அட்டவணை · MAPPING</a:t>
              </a:r>
              <a:endParaRPr sz="971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86" name="Google Shape;186;p16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௪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6259830" y="1857375"/>
            <a:ext cx="5429400" cy="4333800"/>
          </a:xfrm>
          <a:prstGeom prst="roundRect">
            <a:avLst>
              <a:gd name="adj" fmla="val 3516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545580" y="2076450"/>
            <a:ext cx="2095500" cy="1617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 err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ஒப்பீடு</a:t>
            </a:r>
            <a:r>
              <a:rPr lang="en-US" sz="1050" b="1" dirty="0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 · INSIGHTS</a:t>
            </a:r>
            <a:endParaRPr sz="1050" b="1" dirty="0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89" name="Google Shape;189;p16"/>
          <p:cNvGrpSpPr/>
          <p:nvPr/>
        </p:nvGrpSpPr>
        <p:grpSpPr>
          <a:xfrm>
            <a:off x="6545580" y="2552700"/>
            <a:ext cx="4857900" cy="1000200"/>
            <a:chOff x="0" y="0"/>
            <a:chExt cx="4857900" cy="1000200"/>
          </a:xfrm>
        </p:grpSpPr>
        <p:sp>
          <p:nvSpPr>
            <p:cNvPr id="190" name="Google Shape;190;p16"/>
            <p:cNvSpPr/>
            <p:nvPr/>
          </p:nvSpPr>
          <p:spPr>
            <a:xfrm>
              <a:off x="0" y="0"/>
              <a:ext cx="4857900" cy="1000200"/>
            </a:xfrm>
            <a:prstGeom prst="roundRect">
              <a:avLst>
                <a:gd name="adj" fmla="val 11428"/>
              </a:avLst>
            </a:prstGeom>
            <a:solidFill>
              <a:srgbClr val="EEE7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152400" y="114300"/>
              <a:ext cx="45531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01 · 8 vs 6</a:t>
              </a:r>
              <a:endParaRPr sz="13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தொல்காப்பியர் 8 மெய்ப்பாடுகள்; ஏக்மன் (1992) 6 அடிப்படை உணர்வுகள்.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6"/>
          <p:cNvGrpSpPr/>
          <p:nvPr/>
        </p:nvGrpSpPr>
        <p:grpSpPr>
          <a:xfrm>
            <a:off x="6545580" y="3695700"/>
            <a:ext cx="4857900" cy="1000200"/>
            <a:chOff x="0" y="0"/>
            <a:chExt cx="4857900" cy="1000200"/>
          </a:xfrm>
        </p:grpSpPr>
        <p:sp>
          <p:nvSpPr>
            <p:cNvPr id="193" name="Google Shape;193;p16"/>
            <p:cNvSpPr/>
            <p:nvPr/>
          </p:nvSpPr>
          <p:spPr>
            <a:xfrm>
              <a:off x="0" y="0"/>
              <a:ext cx="4857900" cy="1000200"/>
            </a:xfrm>
            <a:prstGeom prst="roundRect">
              <a:avLst>
                <a:gd name="adj" fmla="val 11428"/>
              </a:avLst>
            </a:prstGeom>
            <a:solidFill>
              <a:srgbClr val="EEE7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152400" y="114300"/>
              <a:ext cx="45531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02 · ஒரே ஏரணம்</a:t>
              </a:r>
              <a:endParaRPr sz="13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இருவரும் “உள் நிலை → புற வெளிப்பாடு” மாதிரியைப் பின்பற்றுகின்றனர்.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6"/>
          <p:cNvGrpSpPr/>
          <p:nvPr/>
        </p:nvGrpSpPr>
        <p:grpSpPr>
          <a:xfrm>
            <a:off x="6545580" y="4838700"/>
            <a:ext cx="4857900" cy="1000200"/>
            <a:chOff x="0" y="0"/>
            <a:chExt cx="4857900" cy="100020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4857900" cy="1000200"/>
            </a:xfrm>
            <a:prstGeom prst="roundRect">
              <a:avLst>
                <a:gd name="adj" fmla="val 11428"/>
              </a:avLst>
            </a:prstGeom>
            <a:solidFill>
              <a:srgbClr val="EEE7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152400" y="114300"/>
              <a:ext cx="4553100" cy="7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03 · கட்டமைப்பு ஒற்றுமை</a:t>
              </a:r>
              <a:endParaRPr sz="13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இருமுறைமைகளுக்கும் இடையே அமைப்பு ரீதியான ஒற்றுமை உள்ளது; நேரடிச் சமன்பாடு அன்று.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98" name="Google Shape;198;p16"/>
          <p:cNvGraphicFramePr/>
          <p:nvPr>
            <p:extLst>
              <p:ext uri="{D42A27DB-BD31-4B8C-83A1-F6EECF244321}">
                <p14:modId xmlns:p14="http://schemas.microsoft.com/office/powerpoint/2010/main" val="1485758903"/>
              </p:ext>
            </p:extLst>
          </p:nvPr>
        </p:nvGraphicFramePr>
        <p:xfrm>
          <a:off x="841250" y="3709750"/>
          <a:ext cx="4462270" cy="2017905"/>
        </p:xfrm>
        <a:graphic>
          <a:graphicData uri="http://schemas.openxmlformats.org/drawingml/2006/table">
            <a:tbl>
              <a:tblPr firstRow="1" bandRow="1">
                <a:noFill/>
                <a:tableStyleId>{A7E50D10-C302-48FD-A10B-A0DB09B26023}</a:tableStyleId>
              </a:tblPr>
              <a:tblGrid>
                <a:gridCol w="1269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3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8F4E9"/>
                          </a:solidFill>
                        </a:rPr>
                        <a:t>மெய்ப்பாடு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38100" marB="38100">
                    <a:solidFill>
                      <a:srgbClr val="8A2A1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8F4E9"/>
                          </a:solidFill>
                        </a:rPr>
                        <a:t>Ekman Emotion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38100" marB="38100">
                    <a:solidFill>
                      <a:srgbClr val="8A2A1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F8F4E9"/>
                          </a:solidFill>
                        </a:rPr>
                        <a:t>FACS AU</a:t>
                      </a:r>
                      <a:endParaRPr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38100" marB="38100">
                    <a:solidFill>
                      <a:srgbClr val="8A2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நகை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1C1A14"/>
                          </a:solidFill>
                        </a:rPr>
                        <a:t>Happiness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AU6+AU12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அழுகை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Sadness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AU1+AU4+AU15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இளிவரல்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Disgust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AU9/AU14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மருட்கை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Surprise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AU1+AU2+AU5+AU26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அச்சம்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Fear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AU1+AU2+AU4+AU5+AU20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F8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வெகுளி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C1A14"/>
                          </a:solidFill>
                        </a:rPr>
                        <a:t>Anger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1C1A14"/>
                          </a:solidFill>
                        </a:rPr>
                        <a:t>AU4+AU5+AU7+AU23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6200" marR="76200" marT="25400" marB="25400">
                    <a:solidFill>
                      <a:srgbClr val="EEE7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03 · PARALLEL DEVELOPMENT II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மருட்கையும் இயல்பு விலகல் கண்டறிதலும்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Wonder (Marutkai) &amp; Anomaly Detection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05 / 10</a:t>
            </a:r>
            <a:endParaRPr/>
          </a:p>
        </p:txBody>
      </p:sp>
      <p:grpSp>
        <p:nvGrpSpPr>
          <p:cNvPr id="209" name="Google Shape;209;p17"/>
          <p:cNvGrpSpPr/>
          <p:nvPr/>
        </p:nvGrpSpPr>
        <p:grpSpPr>
          <a:xfrm>
            <a:off x="502920" y="1857375"/>
            <a:ext cx="5429400" cy="4162575"/>
            <a:chOff x="502920" y="1857375"/>
            <a:chExt cx="5429400" cy="4162575"/>
          </a:xfrm>
        </p:grpSpPr>
        <p:sp>
          <p:nvSpPr>
            <p:cNvPr id="210" name="Google Shape;210;p17"/>
            <p:cNvSpPr/>
            <p:nvPr/>
          </p:nvSpPr>
          <p:spPr>
            <a:xfrm>
              <a:off x="502920" y="1857375"/>
              <a:ext cx="5429400" cy="952500"/>
            </a:xfrm>
            <a:prstGeom prst="roundRect">
              <a:avLst>
                <a:gd name="adj" fmla="val 12000"/>
              </a:avLst>
            </a:prstGeom>
            <a:solidFill>
              <a:srgbClr val="EEE7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502920" y="1857375"/>
              <a:ext cx="47700" cy="952500"/>
            </a:xfrm>
            <a:prstGeom prst="roundRect">
              <a:avLst>
                <a:gd name="adj" fmla="val 4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 txBox="1"/>
            <p:nvPr/>
          </p:nvSpPr>
          <p:spPr>
            <a:xfrm>
              <a:off x="704088" y="1952625"/>
              <a:ext cx="5095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“புதுமை பெருமை சிறுமை ஆக்கமொடு / மதிமை சாலா மருட்கை நான்கே”</a:t>
              </a:r>
              <a:endParaRPr sz="14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தொல். பொ. 1198</a:t>
              </a:r>
              <a:endParaRPr sz="105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502920" y="2971800"/>
              <a:ext cx="2667000" cy="3048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502920" y="2971800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Arial"/>
                  <a:ea typeface="Arial"/>
                  <a:cs typeface="Arial"/>
                  <a:sym typeface="Arial"/>
                </a:rPr>
                <a:t>மருட்கைக் காரணி / Anomaly வகை</a:t>
              </a:r>
              <a:endParaRPr sz="11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502920" y="3390900"/>
              <a:ext cx="26193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655320" y="3533775"/>
              <a:ext cx="23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endParaRPr sz="100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புதுமை (Novelty)</a:t>
              </a:r>
              <a:endParaRPr sz="14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Point Anomaly</a:t>
              </a:r>
              <a:endParaRPr sz="12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312795" y="3390900"/>
              <a:ext cx="26193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3465195" y="3533775"/>
              <a:ext cx="23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02</a:t>
              </a:r>
              <a:endParaRPr sz="100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பெருமை (Magnitude)</a:t>
              </a:r>
              <a:endParaRPr sz="14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Contextual (high-tail)</a:t>
              </a:r>
              <a:endParaRPr sz="12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502920" y="4781550"/>
              <a:ext cx="26193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655320" y="4924425"/>
              <a:ext cx="23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03</a:t>
              </a:r>
              <a:endParaRPr sz="100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சிறுமை (Smallness)</a:t>
              </a:r>
              <a:endParaRPr sz="14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Contextual (low-tail)</a:t>
              </a:r>
              <a:endParaRPr sz="12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312795" y="4781550"/>
              <a:ext cx="26193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3465195" y="4924425"/>
              <a:ext cx="23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04</a:t>
              </a:r>
              <a:endParaRPr sz="100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ஆக்கம் (Generative)</a:t>
              </a:r>
              <a:endParaRPr sz="1400" b="1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Collective Anomaly</a:t>
              </a:r>
              <a:endParaRPr sz="12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7"/>
          <p:cNvGrpSpPr/>
          <p:nvPr/>
        </p:nvGrpSpPr>
        <p:grpSpPr>
          <a:xfrm>
            <a:off x="6259830" y="1857375"/>
            <a:ext cx="5429400" cy="4162500"/>
            <a:chOff x="6259830" y="1857375"/>
            <a:chExt cx="5429400" cy="4162500"/>
          </a:xfrm>
        </p:grpSpPr>
        <p:sp>
          <p:nvSpPr>
            <p:cNvPr id="224" name="Google Shape;224;p17"/>
            <p:cNvSpPr/>
            <p:nvPr/>
          </p:nvSpPr>
          <p:spPr>
            <a:xfrm>
              <a:off x="6259830" y="1857375"/>
              <a:ext cx="5429400" cy="4162500"/>
            </a:xfrm>
            <a:prstGeom prst="roundRect">
              <a:avLst>
                <a:gd name="adj" fmla="val 366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6545580" y="2095500"/>
              <a:ext cx="2095500" cy="3048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6545580" y="209550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விளக்கம் · INSIGHTS</a:t>
              </a:r>
              <a:endParaRPr sz="105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6545580" y="2590800"/>
              <a:ext cx="4857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1. மருட்கை (வியப்பு)</a:t>
              </a:r>
              <a:endParaRPr sz="19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மனம் தன் முன் அனுபவத்துக்கு வெளியில் தரவைச் சந்திக்கும்போது தோன்றும் உணர்வு வினை.</a:t>
              </a:r>
              <a:endParaRPr sz="17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2. Chandola et al. (2009)</a:t>
              </a:r>
              <a:endParaRPr sz="19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Point, Contextual, Collective என 3 Anomaly வகைகள்.</a:t>
              </a:r>
              <a:endParaRPr sz="17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9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3. Cognitive ↔ Computational</a:t>
              </a:r>
              <a:endParaRPr sz="19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7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ஒரே ஏரண இணையில் இயங்கும் இரு கட்டமைப்புகள்.</a:t>
              </a:r>
              <a:endParaRPr sz="17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17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௫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04 · PARALLEL DEVELOPMENT III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32 நிலைகளும் நிலை இயந்திர மாதிரியாக்கமும்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32 Cognitive States &amp; Finite State Machine (FSM)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06 / 10</a:t>
            </a:r>
            <a:endParaRPr/>
          </a:p>
        </p:txBody>
      </p:sp>
      <p:grpSp>
        <p:nvGrpSpPr>
          <p:cNvPr id="240" name="Google Shape;240;p18"/>
          <p:cNvGrpSpPr/>
          <p:nvPr/>
        </p:nvGrpSpPr>
        <p:grpSpPr>
          <a:xfrm>
            <a:off x="502920" y="1828800"/>
            <a:ext cx="6096000" cy="914400"/>
            <a:chOff x="0" y="0"/>
            <a:chExt cx="6096000" cy="914400"/>
          </a:xfrm>
        </p:grpSpPr>
        <p:sp>
          <p:nvSpPr>
            <p:cNvPr id="241" name="Google Shape;241;p18"/>
            <p:cNvSpPr/>
            <p:nvPr/>
          </p:nvSpPr>
          <p:spPr>
            <a:xfrm>
              <a:off x="0" y="0"/>
              <a:ext cx="6096000" cy="914400"/>
            </a:xfrm>
            <a:prstGeom prst="roundRect">
              <a:avLst>
                <a:gd name="adj" fmla="val 10416"/>
              </a:avLst>
            </a:prstGeom>
            <a:solidFill>
              <a:srgbClr val="EEE7D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0" y="0"/>
              <a:ext cx="57300" cy="9144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209550" y="11430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“பண்ணைத் தோன்றிய எண் நான்கு பொருளும் / கண்ணிய புறனே நால் நான்கு என்ப”</a:t>
              </a:r>
              <a:endParaRPr sz="13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8A2A1F"/>
                  </a:solidFill>
                  <a:latin typeface="Consolas"/>
                  <a:ea typeface="Consolas"/>
                  <a:cs typeface="Consolas"/>
                  <a:sym typeface="Consolas"/>
                </a:rPr>
                <a:t>தொல். பொ. 1192 · முழுப் பட்டியல்: தொல். பொ. 1203</a:t>
              </a:r>
              <a:endParaRPr sz="1050" b="1">
                <a:solidFill>
                  <a:srgbClr val="8A2A1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44" name="Google Shape;244;p18"/>
          <p:cNvSpPr/>
          <p:nvPr/>
        </p:nvSpPr>
        <p:spPr>
          <a:xfrm>
            <a:off x="6781800" y="1094650"/>
            <a:ext cx="5319600" cy="1556700"/>
          </a:xfrm>
          <a:prstGeom prst="roundRect">
            <a:avLst>
              <a:gd name="adj" fmla="val 10416"/>
            </a:avLst>
          </a:prstGeom>
          <a:solidFill>
            <a:srgbClr val="F8F4E9"/>
          </a:solidFill>
          <a:ln w="16725" cap="flat" cmpd="sng">
            <a:solidFill>
              <a:srgbClr val="E2D9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245;p18"/>
          <p:cNvGrpSpPr/>
          <p:nvPr/>
        </p:nvGrpSpPr>
        <p:grpSpPr>
          <a:xfrm>
            <a:off x="502920" y="2933700"/>
            <a:ext cx="3524400" cy="3200400"/>
            <a:chOff x="0" y="0"/>
            <a:chExt cx="3524400" cy="3200400"/>
          </a:xfrm>
        </p:grpSpPr>
        <p:sp>
          <p:nvSpPr>
            <p:cNvPr id="246" name="Google Shape;246;p18"/>
            <p:cNvSpPr/>
            <p:nvPr/>
          </p:nvSpPr>
          <p:spPr>
            <a:xfrm>
              <a:off x="0" y="0"/>
              <a:ext cx="3524400" cy="3200400"/>
            </a:xfrm>
            <a:prstGeom prst="roundRect">
              <a:avLst>
                <a:gd name="adj" fmla="val 476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228600" y="209550"/>
              <a:ext cx="571500" cy="2478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8"/>
            <p:cNvSpPr txBox="1"/>
            <p:nvPr/>
          </p:nvSpPr>
          <p:spPr>
            <a:xfrm>
              <a:off x="228600" y="209550"/>
              <a:ext cx="571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228600" y="552450"/>
              <a:ext cx="3067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உணர்வுசார்</a:t>
              </a:r>
              <a:endParaRPr sz="18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549"/>
                  </a:solidFill>
                  <a:latin typeface="Consolas"/>
                  <a:ea typeface="Consolas"/>
                  <a:cs typeface="Consolas"/>
                  <a:sym typeface="Consolas"/>
                </a:rPr>
                <a:t>Emotional</a:t>
              </a:r>
              <a:endParaRPr sz="1050">
                <a:solidFill>
                  <a:srgbClr val="5C55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0" name="Google Shape;250;p18"/>
            <p:cNvCxnSpPr/>
            <p:nvPr/>
          </p:nvCxnSpPr>
          <p:spPr>
            <a:xfrm>
              <a:off x="228600" y="1104900"/>
              <a:ext cx="3067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D9C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1" name="Google Shape;251;p18"/>
            <p:cNvSpPr txBox="1"/>
            <p:nvPr/>
          </p:nvSpPr>
          <p:spPr>
            <a:xfrm>
              <a:off x="228600" y="1219200"/>
              <a:ext cx="3067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இன்புறல், அருளல், அன்பு, கைம்மிகல்,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நலிதல், வாழ்த்தல், நாணுதல், அரற்று,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முனிதல், கையாறு, இடுக்கண்,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பொறாமை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18"/>
          <p:cNvGrpSpPr/>
          <p:nvPr/>
        </p:nvGrpSpPr>
        <p:grpSpPr>
          <a:xfrm>
            <a:off x="4333875" y="2933700"/>
            <a:ext cx="3524400" cy="3200400"/>
            <a:chOff x="0" y="0"/>
            <a:chExt cx="3524400" cy="3200400"/>
          </a:xfrm>
        </p:grpSpPr>
        <p:sp>
          <p:nvSpPr>
            <p:cNvPr id="253" name="Google Shape;253;p18"/>
            <p:cNvSpPr/>
            <p:nvPr/>
          </p:nvSpPr>
          <p:spPr>
            <a:xfrm>
              <a:off x="0" y="0"/>
              <a:ext cx="3524400" cy="3200400"/>
            </a:xfrm>
            <a:prstGeom prst="roundRect">
              <a:avLst>
                <a:gd name="adj" fmla="val 476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228600" y="209550"/>
              <a:ext cx="571500" cy="2478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8"/>
            <p:cNvSpPr txBox="1"/>
            <p:nvPr/>
          </p:nvSpPr>
          <p:spPr>
            <a:xfrm>
              <a:off x="228600" y="209550"/>
              <a:ext cx="571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228600" y="552450"/>
              <a:ext cx="3067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அறிவுசார்</a:t>
              </a:r>
              <a:endParaRPr sz="18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549"/>
                  </a:solidFill>
                  <a:latin typeface="Consolas"/>
                  <a:ea typeface="Consolas"/>
                  <a:cs typeface="Consolas"/>
                  <a:sym typeface="Consolas"/>
                </a:rPr>
                <a:t>Cognitive</a:t>
              </a:r>
              <a:endParaRPr sz="1050">
                <a:solidFill>
                  <a:srgbClr val="5C55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7" name="Google Shape;257;p18"/>
            <p:cNvCxnSpPr/>
            <p:nvPr/>
          </p:nvCxnSpPr>
          <p:spPr>
            <a:xfrm>
              <a:off x="228600" y="1104900"/>
              <a:ext cx="3067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D9C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8" name="Google Shape;258;p18"/>
            <p:cNvSpPr txBox="1"/>
            <p:nvPr/>
          </p:nvSpPr>
          <p:spPr>
            <a:xfrm>
              <a:off x="228600" y="1219200"/>
              <a:ext cx="3067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சூழ்ச்சி, கனவு, நினைதல்,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கருதல், ஆராய்ச்சி,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பொச்சாப்பு, ஐயம்,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மிகை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8164830" y="2920438"/>
            <a:ext cx="3524400" cy="3200400"/>
            <a:chOff x="0" y="0"/>
            <a:chExt cx="3524400" cy="3200400"/>
          </a:xfrm>
        </p:grpSpPr>
        <p:sp>
          <p:nvSpPr>
            <p:cNvPr id="260" name="Google Shape;260;p18"/>
            <p:cNvSpPr/>
            <p:nvPr/>
          </p:nvSpPr>
          <p:spPr>
            <a:xfrm>
              <a:off x="0" y="0"/>
              <a:ext cx="3524400" cy="3200400"/>
            </a:xfrm>
            <a:prstGeom prst="roundRect">
              <a:avLst>
                <a:gd name="adj" fmla="val 4761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228600" y="209550"/>
              <a:ext cx="571500" cy="2478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 txBox="1"/>
            <p:nvPr/>
          </p:nvSpPr>
          <p:spPr>
            <a:xfrm>
              <a:off x="228600" y="209550"/>
              <a:ext cx="571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228600" y="552450"/>
              <a:ext cx="30672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உடல் / சூழல்சார்</a:t>
              </a:r>
              <a:endParaRPr sz="18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5C554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/ Situational</a:t>
              </a:r>
              <a:endParaRPr sz="1050">
                <a:solidFill>
                  <a:srgbClr val="5C554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4" name="Google Shape;264;p18"/>
            <p:cNvCxnSpPr/>
            <p:nvPr/>
          </p:nvCxnSpPr>
          <p:spPr>
            <a:xfrm>
              <a:off x="228600" y="1104900"/>
              <a:ext cx="3067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2D9C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8"/>
            <p:cNvSpPr txBox="1"/>
            <p:nvPr/>
          </p:nvSpPr>
          <p:spPr>
            <a:xfrm>
              <a:off x="228600" y="1219200"/>
              <a:ext cx="30672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உடைமை, நடுவுநிலை, தன்மை, அடக்கம்,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வரைதல், துஞ்சல், வெரூஉதல்,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மடிமை, விரைவு, உயிர்ப்பு,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C2821"/>
                  </a:solidFill>
                  <a:latin typeface="Arial"/>
                  <a:ea typeface="Arial"/>
                  <a:cs typeface="Arial"/>
                  <a:sym typeface="Arial"/>
                </a:rPr>
                <a:t>வியர்த்தல், நடுக்கு</a:t>
              </a:r>
              <a:endParaRPr sz="1350">
                <a:solidFill>
                  <a:srgbClr val="2C28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18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௨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8" title="mental_sta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0" y="1098050"/>
            <a:ext cx="5118500" cy="15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6751850" y="252750"/>
            <a:ext cx="3763500" cy="6352500"/>
          </a:xfrm>
          <a:prstGeom prst="roundRect">
            <a:avLst>
              <a:gd name="adj" fmla="val 4145"/>
            </a:avLst>
          </a:prstGeom>
          <a:solidFill>
            <a:srgbClr val="F8F4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FIGURE · FSM MODEL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நிலை மாற்ற வரைபடம்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State-Transition Model of a Marutkai (Wonder) Trigger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07 / 10</a:t>
            </a:r>
            <a:endParaRPr/>
          </a:p>
        </p:txBody>
      </p:sp>
      <p:grpSp>
        <p:nvGrpSpPr>
          <p:cNvPr id="280" name="Google Shape;280;p19"/>
          <p:cNvGrpSpPr/>
          <p:nvPr/>
        </p:nvGrpSpPr>
        <p:grpSpPr>
          <a:xfrm>
            <a:off x="502920" y="1905000"/>
            <a:ext cx="5524500" cy="3676800"/>
            <a:chOff x="502920" y="1905000"/>
            <a:chExt cx="5524500" cy="3676800"/>
          </a:xfrm>
        </p:grpSpPr>
        <p:grpSp>
          <p:nvGrpSpPr>
            <p:cNvPr id="281" name="Google Shape;281;p19"/>
            <p:cNvGrpSpPr/>
            <p:nvPr/>
          </p:nvGrpSpPr>
          <p:grpSpPr>
            <a:xfrm>
              <a:off x="502920" y="1905000"/>
              <a:ext cx="5524500" cy="1200300"/>
              <a:chOff x="502920" y="1905000"/>
              <a:chExt cx="5524500" cy="1200300"/>
            </a:xfrm>
          </p:grpSpPr>
          <p:sp>
            <p:nvSpPr>
              <p:cNvPr id="282" name="Google Shape;282;p19"/>
              <p:cNvSpPr/>
              <p:nvPr/>
            </p:nvSpPr>
            <p:spPr>
              <a:xfrm>
                <a:off x="502920" y="1905000"/>
                <a:ext cx="5524500" cy="1200300"/>
              </a:xfrm>
              <a:prstGeom prst="roundRect">
                <a:avLst>
                  <a:gd name="adj" fmla="val 9523"/>
                </a:avLst>
              </a:prstGeom>
              <a:solidFill>
                <a:srgbClr val="F8F4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502920" y="1905000"/>
                <a:ext cx="57300" cy="1200300"/>
              </a:xfrm>
              <a:prstGeom prst="roundRect">
                <a:avLst>
                  <a:gd name="adj" fmla="val 50000"/>
                </a:avLst>
              </a:prstGeom>
              <a:solidFill>
                <a:srgbClr val="8A2A1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 txBox="1"/>
              <p:nvPr/>
            </p:nvSpPr>
            <p:spPr>
              <a:xfrm>
                <a:off x="731520" y="2019300"/>
                <a:ext cx="5143500" cy="9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8A2A1F"/>
                    </a:solidFill>
                    <a:latin typeface="Arial"/>
                    <a:ea typeface="Arial"/>
                    <a:cs typeface="Arial"/>
                    <a:sym typeface="Arial"/>
                  </a:rPr>
                  <a:t>சுழற்சி</a:t>
                </a:r>
                <a:endParaRPr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50" b="0">
                    <a:solidFill>
                      <a:srgbClr val="1C1A14"/>
                    </a:solidFill>
                    <a:latin typeface="Arial"/>
                    <a:ea typeface="Arial"/>
                    <a:cs typeface="Arial"/>
                    <a:sym typeface="Arial"/>
                  </a:rPr>
                  <a:t>மருட்கை தூண்டல், மனத்தை நடுவுநிலை → நினைதல் → கருதல் → ஆராய்ச்சி → ஐயம் வழியாக மீண்டும் சமநிலைக்கு நகர்த்தும்.</a:t>
                </a:r>
                <a:endParaRPr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19"/>
            <p:cNvGrpSpPr/>
            <p:nvPr/>
          </p:nvGrpSpPr>
          <p:grpSpPr>
            <a:xfrm>
              <a:off x="502920" y="3257550"/>
              <a:ext cx="5524500" cy="1086000"/>
              <a:chOff x="502920" y="3257550"/>
              <a:chExt cx="5524500" cy="1086000"/>
            </a:xfrm>
          </p:grpSpPr>
          <p:sp>
            <p:nvSpPr>
              <p:cNvPr id="286" name="Google Shape;286;p19"/>
              <p:cNvSpPr/>
              <p:nvPr/>
            </p:nvSpPr>
            <p:spPr>
              <a:xfrm>
                <a:off x="502920" y="3257550"/>
                <a:ext cx="5524500" cy="1086000"/>
              </a:xfrm>
              <a:prstGeom prst="roundRect">
                <a:avLst>
                  <a:gd name="adj" fmla="val 10526"/>
                </a:avLst>
              </a:prstGeom>
              <a:solidFill>
                <a:srgbClr val="F8F4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502920" y="3257550"/>
                <a:ext cx="57300" cy="1086000"/>
              </a:xfrm>
              <a:prstGeom prst="roundRect">
                <a:avLst>
                  <a:gd name="adj" fmla="val 50000"/>
                </a:avLst>
              </a:prstGeom>
              <a:solidFill>
                <a:srgbClr val="F0B42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 txBox="1"/>
              <p:nvPr/>
            </p:nvSpPr>
            <p:spPr>
              <a:xfrm>
                <a:off x="731520" y="3371850"/>
                <a:ext cx="5143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8A2A1F"/>
                    </a:solidFill>
                    <a:latin typeface="Arial"/>
                    <a:ea typeface="Arial"/>
                    <a:cs typeface="Arial"/>
                    <a:sym typeface="Arial"/>
                  </a:rPr>
                  <a:t>சான்று</a:t>
                </a:r>
                <a:endParaRPr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50" b="0">
                    <a:solidFill>
                      <a:srgbClr val="1C1A14"/>
                    </a:solidFill>
                    <a:latin typeface="Arial"/>
                    <a:ea typeface="Arial"/>
                    <a:cs typeface="Arial"/>
                    <a:sym typeface="Arial"/>
                  </a:rPr>
                  <a:t>ஐந்து நிலைகளும் தொல். பொ. 1203-இல் அடங்கியவை.</a:t>
                </a:r>
                <a:endParaRPr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19"/>
            <p:cNvGrpSpPr/>
            <p:nvPr/>
          </p:nvGrpSpPr>
          <p:grpSpPr>
            <a:xfrm>
              <a:off x="502920" y="4495800"/>
              <a:ext cx="5524500" cy="1086000"/>
              <a:chOff x="502920" y="4495800"/>
              <a:chExt cx="5524500" cy="1086000"/>
            </a:xfrm>
          </p:grpSpPr>
          <p:sp>
            <p:nvSpPr>
              <p:cNvPr id="290" name="Google Shape;290;p19"/>
              <p:cNvSpPr/>
              <p:nvPr/>
            </p:nvSpPr>
            <p:spPr>
              <a:xfrm>
                <a:off x="502920" y="4495800"/>
                <a:ext cx="5524500" cy="1086000"/>
              </a:xfrm>
              <a:prstGeom prst="roundRect">
                <a:avLst>
                  <a:gd name="adj" fmla="val 10526"/>
                </a:avLst>
              </a:prstGeom>
              <a:solidFill>
                <a:srgbClr val="F8F4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502920" y="4495800"/>
                <a:ext cx="57300" cy="1086000"/>
              </a:xfrm>
              <a:prstGeom prst="roundRect">
                <a:avLst>
                  <a:gd name="adj" fmla="val 50000"/>
                </a:avLst>
              </a:prstGeom>
              <a:solidFill>
                <a:srgbClr val="124F5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 txBox="1"/>
              <p:nvPr/>
            </p:nvSpPr>
            <p:spPr>
              <a:xfrm>
                <a:off x="731520" y="4610100"/>
                <a:ext cx="5143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8A2A1F"/>
                    </a:solidFill>
                    <a:latin typeface="Arial"/>
                    <a:ea typeface="Arial"/>
                    <a:cs typeface="Arial"/>
                    <a:sym typeface="Arial"/>
                  </a:rPr>
                  <a:t>குறிப்பு</a:t>
                </a:r>
                <a:endParaRPr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50" b="0">
                    <a:solidFill>
                      <a:srgbClr val="1C1A14"/>
                    </a:solidFill>
                    <a:latin typeface="Arial"/>
                    <a:ea typeface="Arial"/>
                    <a:cs typeface="Arial"/>
                    <a:sym typeface="Arial"/>
                  </a:rPr>
                  <a:t>“புதிய உள்ளீடு + மருட்கை” ஒரு நிலை அன்று — தூண்டல் மட்டுமே.</a:t>
                </a:r>
                <a:endParaRPr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3" name="Google Shape;293;p19"/>
          <p:cNvSpPr/>
          <p:nvPr/>
        </p:nvSpPr>
        <p:spPr>
          <a:xfrm>
            <a:off x="6939059" y="451500"/>
            <a:ext cx="1347600" cy="3048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௬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6966959" y="400500"/>
            <a:ext cx="129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1" b="1" dirty="0" err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மாதிரி</a:t>
            </a:r>
            <a:r>
              <a:rPr lang="en-US" sz="971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 வரைபடம்  MODEL DIAGRAM</a:t>
            </a:r>
            <a:endParaRPr sz="971" b="1" dirty="0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97" name="Google Shape;297;p19" title="ideation_cyc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6025" y="474413"/>
            <a:ext cx="2923051" cy="60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0" title="empathetic_response_eng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050" y="562692"/>
            <a:ext cx="5130700" cy="5621432"/>
          </a:xfrm>
          <a:prstGeom prst="rect">
            <a:avLst/>
          </a:prstGeom>
          <a:solidFill>
            <a:srgbClr val="F8F4E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3" name="Google Shape;303;p20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05 · APPLIED ARCHITECTURE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உணர்வுசார் AI கட்டமைப்பு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Affective AI Architecture &amp; Tamil Prompt Standard (TPS) Integration</a:t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08 / 10</a:t>
            </a:r>
            <a:endParaRPr/>
          </a:p>
        </p:txBody>
      </p:sp>
      <p:grpSp>
        <p:nvGrpSpPr>
          <p:cNvPr id="309" name="Google Shape;309;p20"/>
          <p:cNvGrpSpPr/>
          <p:nvPr/>
        </p:nvGrpSpPr>
        <p:grpSpPr>
          <a:xfrm>
            <a:off x="364475" y="1933960"/>
            <a:ext cx="5970900" cy="1238400"/>
            <a:chOff x="0" y="0"/>
            <a:chExt cx="5970900" cy="1238400"/>
          </a:xfrm>
        </p:grpSpPr>
        <p:sp>
          <p:nvSpPr>
            <p:cNvPr id="310" name="Google Shape;310;p20"/>
            <p:cNvSpPr/>
            <p:nvPr/>
          </p:nvSpPr>
          <p:spPr>
            <a:xfrm>
              <a:off x="0" y="0"/>
              <a:ext cx="59709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228600" y="152400"/>
              <a:ext cx="5524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மூன்று கூறுகள்</a:t>
              </a:r>
              <a:endParaRPr sz="15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8 மெய்ப்பாடு, மருட்கை விதி, 32 நிலை </a:t>
              </a:r>
              <a:r>
                <a:rPr lang="en-US" sz="1250">
                  <a:solidFill>
                    <a:srgbClr val="1C1A14"/>
                  </a:solidFill>
                </a:rPr>
                <a:t>-</a:t>
              </a: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 ஒரே தர்க்க இயந்திரத்தின் உள் கூறுகளாக இணைகின்றன.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364475" y="3343660"/>
            <a:ext cx="5970900" cy="1238400"/>
            <a:chOff x="0" y="0"/>
            <a:chExt cx="5970900" cy="1238400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59709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0"/>
            <p:cNvSpPr txBox="1"/>
            <p:nvPr/>
          </p:nvSpPr>
          <p:spPr>
            <a:xfrm>
              <a:off x="228600" y="152400"/>
              <a:ext cx="5524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செயல்பாட்டு ஓட்டம்</a:t>
              </a:r>
              <a:endParaRPr sz="15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AI Chatbot “நகை” கண்டறிதல் → “மருட்கை”யை இயல்பு விலகலாகப் பயன்படுத்துதல் → FSM பாதையில் இயங்கல்.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p20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8" name="Google Shape;318;p20"/>
          <p:cNvGrpSpPr/>
          <p:nvPr/>
        </p:nvGrpSpPr>
        <p:grpSpPr>
          <a:xfrm>
            <a:off x="364475" y="4753360"/>
            <a:ext cx="5970900" cy="1238400"/>
            <a:chOff x="0" y="0"/>
            <a:chExt cx="5970900" cy="1238400"/>
          </a:xfrm>
        </p:grpSpPr>
        <p:sp>
          <p:nvSpPr>
            <p:cNvPr id="319" name="Google Shape;319;p20"/>
            <p:cNvSpPr/>
            <p:nvPr/>
          </p:nvSpPr>
          <p:spPr>
            <a:xfrm>
              <a:off x="0" y="0"/>
              <a:ext cx="5970900" cy="1238400"/>
            </a:xfrm>
            <a:prstGeom prst="roundRect">
              <a:avLst>
                <a:gd name="adj" fmla="val 9230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0"/>
            <p:cNvSpPr txBox="1"/>
            <p:nvPr/>
          </p:nvSpPr>
          <p:spPr>
            <a:xfrm>
              <a:off x="228600" y="152400"/>
              <a:ext cx="55245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TPS - Tamil Prompt Standard</a:t>
              </a:r>
              <a:endParaRPr sz="15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உணர்வுத் தூண்டுதல் &amp; நிலைமாற்றத் தூண்டுதல் எனும் இரு பாதைகள்.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20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௭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896600" y="743125"/>
            <a:ext cx="1405200" cy="5439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6896600" y="799525"/>
            <a:ext cx="140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வரைபடம்</a:t>
            </a:r>
            <a:endParaRPr sz="971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1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rPr>
              <a:t>Empathetic Response Engine  </a:t>
            </a:r>
            <a:endParaRPr sz="971" b="1">
              <a:solidFill>
                <a:srgbClr val="0B343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06 · CLOSING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சவால்களும் தொகுப்புரையும்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Limitations &amp; Conclusion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09 / 10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502920" y="1965960"/>
            <a:ext cx="5422500" cy="3429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1"/>
          <p:cNvGrpSpPr/>
          <p:nvPr/>
        </p:nvGrpSpPr>
        <p:grpSpPr>
          <a:xfrm>
            <a:off x="502920" y="1965960"/>
            <a:ext cx="5422500" cy="342900"/>
            <a:chOff x="0" y="0"/>
            <a:chExt cx="5422500" cy="342900"/>
          </a:xfrm>
        </p:grpSpPr>
        <p:sp>
          <p:nvSpPr>
            <p:cNvPr id="337" name="Google Shape;337;p21"/>
            <p:cNvSpPr/>
            <p:nvPr/>
          </p:nvSpPr>
          <p:spPr>
            <a:xfrm>
              <a:off x="0" y="0"/>
              <a:ext cx="5422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 txBox="1"/>
            <p:nvPr/>
          </p:nvSpPr>
          <p:spPr>
            <a:xfrm>
              <a:off x="0" y="0"/>
              <a:ext cx="5422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எல்லைகள் · LIMITATIONS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9" name="Google Shape;339;p21"/>
          <p:cNvGrpSpPr/>
          <p:nvPr/>
        </p:nvGrpSpPr>
        <p:grpSpPr>
          <a:xfrm>
            <a:off x="502920" y="2423160"/>
            <a:ext cx="5422500" cy="1086000"/>
            <a:chOff x="0" y="0"/>
            <a:chExt cx="5422500" cy="1086000"/>
          </a:xfrm>
        </p:grpSpPr>
        <p:sp>
          <p:nvSpPr>
            <p:cNvPr id="340" name="Google Shape;340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பொருள் மயக்கம்</a:t>
              </a:r>
              <a:endParaRPr sz="14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“இணை வளர்ச்சி” மட்டுமே பேசப்படுகிறது, சமன்பாடு அன்று.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21"/>
          <p:cNvGrpSpPr/>
          <p:nvPr/>
        </p:nvGrpSpPr>
        <p:grpSpPr>
          <a:xfrm>
            <a:off x="502920" y="3623310"/>
            <a:ext cx="5422500" cy="1086000"/>
            <a:chOff x="0" y="0"/>
            <a:chExt cx="5422500" cy="1086000"/>
          </a:xfrm>
        </p:grpSpPr>
        <p:sp>
          <p:nvSpPr>
            <p:cNvPr id="344" name="Google Shape;344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அளவீட்டு எல்லை</a:t>
              </a:r>
              <a:endParaRPr sz="14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FACS போன்ற அளவீட்டுக் கருவியாக்க கூடுதல் வடிவியல் வேலை தேவை.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21"/>
          <p:cNvGrpSpPr/>
          <p:nvPr/>
        </p:nvGrpSpPr>
        <p:grpSpPr>
          <a:xfrm>
            <a:off x="502920" y="4823460"/>
            <a:ext cx="5422500" cy="1086000"/>
            <a:chOff x="0" y="0"/>
            <a:chExt cx="5422500" cy="1086000"/>
          </a:xfrm>
        </p:grpSpPr>
        <p:sp>
          <p:nvSpPr>
            <p:cNvPr id="348" name="Google Shape;348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A2A1F"/>
                  </a:solidFill>
                  <a:latin typeface="Arial"/>
                  <a:ea typeface="Arial"/>
                  <a:cs typeface="Arial"/>
                  <a:sym typeface="Arial"/>
                </a:rPr>
                <a:t>பண்பாட்டுச் சார்பு</a:t>
              </a:r>
              <a:endParaRPr sz="1400" b="1">
                <a:solidFill>
                  <a:srgbClr val="8A2A1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வெளிப்பாடு பண்பாடு சார்ந்தது; AI மாதிரியில் கவனம் தேவை.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21"/>
          <p:cNvSpPr/>
          <p:nvPr/>
        </p:nvSpPr>
        <p:spPr>
          <a:xfrm>
            <a:off x="6263640" y="1965960"/>
            <a:ext cx="5422500" cy="3429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21"/>
          <p:cNvGrpSpPr/>
          <p:nvPr/>
        </p:nvGrpSpPr>
        <p:grpSpPr>
          <a:xfrm>
            <a:off x="6263640" y="1965960"/>
            <a:ext cx="5422500" cy="342900"/>
            <a:chOff x="0" y="0"/>
            <a:chExt cx="5422500" cy="342900"/>
          </a:xfrm>
        </p:grpSpPr>
        <p:sp>
          <p:nvSpPr>
            <p:cNvPr id="353" name="Google Shape;353;p21"/>
            <p:cNvSpPr/>
            <p:nvPr/>
          </p:nvSpPr>
          <p:spPr>
            <a:xfrm>
              <a:off x="0" y="0"/>
              <a:ext cx="5422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1"/>
            <p:cNvSpPr txBox="1"/>
            <p:nvPr/>
          </p:nvSpPr>
          <p:spPr>
            <a:xfrm>
              <a:off x="0" y="0"/>
              <a:ext cx="5422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தொகுப்புரை · CONCLUSION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55" name="Google Shape;355;p21"/>
          <p:cNvGrpSpPr/>
          <p:nvPr/>
        </p:nvGrpSpPr>
        <p:grpSpPr>
          <a:xfrm>
            <a:off x="6263640" y="2423160"/>
            <a:ext cx="5422500" cy="1086000"/>
            <a:chOff x="0" y="0"/>
            <a:chExt cx="5422500" cy="1086000"/>
          </a:xfrm>
        </p:grpSpPr>
        <p:sp>
          <p:nvSpPr>
            <p:cNvPr id="356" name="Google Shape;356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24F51"/>
                  </a:solidFill>
                  <a:latin typeface="Arial"/>
                  <a:ea typeface="Arial"/>
                  <a:cs typeface="Arial"/>
                  <a:sym typeface="Arial"/>
                </a:rPr>
                <a:t>மூன்று இணை வளர்ச்சிகள்</a:t>
              </a:r>
              <a:endParaRPr sz="1400" b="1">
                <a:solidFill>
                  <a:srgbClr val="124F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8 மெய்ப்பாடு, மருட்கை, 32 நிலை முறையாக நிறுவப்பட்டன.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21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0" name="Google Shape;360;p21"/>
          <p:cNvGrpSpPr/>
          <p:nvPr/>
        </p:nvGrpSpPr>
        <p:grpSpPr>
          <a:xfrm>
            <a:off x="6263640" y="3623310"/>
            <a:ext cx="5422500" cy="1086000"/>
            <a:chOff x="0" y="0"/>
            <a:chExt cx="5422500" cy="1086000"/>
          </a:xfrm>
        </p:grpSpPr>
        <p:sp>
          <p:nvSpPr>
            <p:cNvPr id="361" name="Google Shape;361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24F51"/>
                  </a:solidFill>
                  <a:latin typeface="Arial"/>
                  <a:ea typeface="Arial"/>
                  <a:cs typeface="Arial"/>
                  <a:sym typeface="Arial"/>
                </a:rPr>
                <a:t>இணையான ஏரணம்</a:t>
              </a:r>
              <a:endParaRPr sz="1400" b="1">
                <a:solidFill>
                  <a:srgbClr val="124F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இரு அறிவு மரபுகள் தனித்தனியே ஒரே சிக்கலை அணுகியுள்ளன.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21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௯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1"/>
          <p:cNvGrpSpPr/>
          <p:nvPr/>
        </p:nvGrpSpPr>
        <p:grpSpPr>
          <a:xfrm>
            <a:off x="6263640" y="4823460"/>
            <a:ext cx="5422500" cy="1086000"/>
            <a:chOff x="0" y="0"/>
            <a:chExt cx="5422500" cy="1086000"/>
          </a:xfrm>
        </p:grpSpPr>
        <p:sp>
          <p:nvSpPr>
            <p:cNvPr id="366" name="Google Shape;366;p21"/>
            <p:cNvSpPr/>
            <p:nvPr/>
          </p:nvSpPr>
          <p:spPr>
            <a:xfrm>
              <a:off x="0" y="0"/>
              <a:ext cx="5422500" cy="1086000"/>
            </a:xfrm>
            <a:prstGeom prst="roundRect">
              <a:avLst>
                <a:gd name="adj" fmla="val 10526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0" y="0"/>
              <a:ext cx="57300" cy="10860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209550" y="114300"/>
              <a:ext cx="504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24F51"/>
                  </a:solidFill>
                  <a:latin typeface="Arial"/>
                  <a:ea typeface="Arial"/>
                  <a:cs typeface="Arial"/>
                  <a:sym typeface="Arial"/>
                </a:rPr>
                <a:t>பங்களிப்பு</a:t>
              </a:r>
              <a:endParaRPr sz="1400" b="1">
                <a:solidFill>
                  <a:srgbClr val="124F5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US" sz="12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உணர்வுசார் கணினியியல், XAI, பண்பாட்டு AI-க்கு ஒப்பிடத்தக்க கருத்தாக்க உள்ளீடு.</a:t>
              </a:r>
              <a:endParaRPr sz="12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21"/>
          <p:cNvSpPr/>
          <p:nvPr/>
        </p:nvSpPr>
        <p:spPr>
          <a:xfrm>
            <a:off x="941945" y="1205398"/>
            <a:ext cx="542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36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"/>
          <p:cNvSpPr/>
          <p:nvPr/>
        </p:nvSpPr>
        <p:spPr>
          <a:xfrm>
            <a:off x="502920" y="384048"/>
            <a:ext cx="255900" cy="1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841248" y="274320"/>
            <a:ext cx="73152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துணைநின்ற நூல்கள் · REFERENCES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502920" y="621792"/>
            <a:ext cx="1115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AF0"/>
                </a:solidFill>
                <a:latin typeface="Arial"/>
                <a:ea typeface="Arial"/>
                <a:cs typeface="Arial"/>
                <a:sym typeface="Arial"/>
              </a:rPr>
              <a:t>துணைநூல் பட்டியல்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502920" y="1280160"/>
            <a:ext cx="11155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F7D066"/>
                </a:solidFill>
                <a:latin typeface="Arial"/>
                <a:ea typeface="Arial"/>
                <a:cs typeface="Arial"/>
                <a:sym typeface="Arial"/>
              </a:rPr>
              <a:t>Select Bibliography (APA 7th ed.)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502920" y="1700784"/>
            <a:ext cx="5029200" cy="279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11475720" y="256032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FC7C6"/>
                </a:solidFill>
                <a:latin typeface="Consolas"/>
                <a:ea typeface="Consolas"/>
                <a:cs typeface="Consolas"/>
                <a:sym typeface="Consolas"/>
              </a:rPr>
              <a:t>10 / 10</a:t>
            </a:r>
            <a:endParaRPr/>
          </a:p>
        </p:txBody>
      </p:sp>
      <p:grpSp>
        <p:nvGrpSpPr>
          <p:cNvPr id="380" name="Google Shape;380;p22"/>
          <p:cNvGrpSpPr/>
          <p:nvPr/>
        </p:nvGrpSpPr>
        <p:grpSpPr>
          <a:xfrm>
            <a:off x="502920" y="1965960"/>
            <a:ext cx="5422500" cy="381000"/>
            <a:chOff x="0" y="0"/>
            <a:chExt cx="5422500" cy="381000"/>
          </a:xfrm>
        </p:grpSpPr>
        <p:sp>
          <p:nvSpPr>
            <p:cNvPr id="381" name="Google Shape;381;p22"/>
            <p:cNvSpPr/>
            <p:nvPr/>
          </p:nvSpPr>
          <p:spPr>
            <a:xfrm>
              <a:off x="0" y="0"/>
              <a:ext cx="5422500" cy="3810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 txBox="1"/>
            <p:nvPr/>
          </p:nvSpPr>
          <p:spPr>
            <a:xfrm>
              <a:off x="0" y="0"/>
              <a:ext cx="542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அ. மூல நூல்களும் உரைகளும் · PRIMARY SOURCES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3" name="Google Shape;383;p22"/>
          <p:cNvGrpSpPr/>
          <p:nvPr/>
        </p:nvGrpSpPr>
        <p:grpSpPr>
          <a:xfrm>
            <a:off x="502920" y="2461260"/>
            <a:ext cx="5422500" cy="1047900"/>
            <a:chOff x="0" y="0"/>
            <a:chExt cx="5422500" cy="1047900"/>
          </a:xfrm>
        </p:grpSpPr>
        <p:sp>
          <p:nvSpPr>
            <p:cNvPr id="384" name="Google Shape;384;p22"/>
            <p:cNvSpPr/>
            <p:nvPr/>
          </p:nvSpPr>
          <p:spPr>
            <a:xfrm>
              <a:off x="0" y="0"/>
              <a:ext cx="5422500" cy="1047900"/>
            </a:xfrm>
            <a:prstGeom prst="roundRect">
              <a:avLst>
                <a:gd name="adj" fmla="val 10909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2"/>
            <p:cNvSpPr txBox="1"/>
            <p:nvPr/>
          </p:nvSpPr>
          <p:spPr>
            <a:xfrm>
              <a:off x="209550" y="114300"/>
              <a:ext cx="50007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தொல்காப்பியர். தொல்காப்பியம் (பொருளதிகாரம், மெய்ப்பாட்டியல்). புலியூர்க் கேசிகன் உரை (1961). அருண பப்ளிகேஷன்ஸ்.</a:t>
              </a:r>
              <a:endParaRPr sz="120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502920" y="3623310"/>
            <a:ext cx="5422500" cy="1047900"/>
            <a:chOff x="0" y="0"/>
            <a:chExt cx="5422500" cy="1047900"/>
          </a:xfrm>
        </p:grpSpPr>
        <p:sp>
          <p:nvSpPr>
            <p:cNvPr id="388" name="Google Shape;388;p22"/>
            <p:cNvSpPr/>
            <p:nvPr/>
          </p:nvSpPr>
          <p:spPr>
            <a:xfrm>
              <a:off x="0" y="0"/>
              <a:ext cx="5422500" cy="1047900"/>
            </a:xfrm>
            <a:prstGeom prst="roundRect">
              <a:avLst>
                <a:gd name="adj" fmla="val 10909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 txBox="1"/>
            <p:nvPr/>
          </p:nvSpPr>
          <p:spPr>
            <a:xfrm>
              <a:off x="209550" y="114300"/>
              <a:ext cx="50007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வெள்ளைவாரணர், க. (1994). தொல்காப்பியம், உரைவளம் (பொருளதிகாரம்). உலகத் தமிழாராய்ச்சி நிறுவனம்.</a:t>
              </a:r>
              <a:endParaRPr sz="120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22"/>
          <p:cNvGrpSpPr/>
          <p:nvPr/>
        </p:nvGrpSpPr>
        <p:grpSpPr>
          <a:xfrm>
            <a:off x="502920" y="4785360"/>
            <a:ext cx="5422500" cy="1047900"/>
            <a:chOff x="0" y="0"/>
            <a:chExt cx="5422500" cy="1047900"/>
          </a:xfrm>
        </p:grpSpPr>
        <p:sp>
          <p:nvSpPr>
            <p:cNvPr id="392" name="Google Shape;392;p22"/>
            <p:cNvSpPr/>
            <p:nvPr/>
          </p:nvSpPr>
          <p:spPr>
            <a:xfrm>
              <a:off x="0" y="0"/>
              <a:ext cx="5422500" cy="1047900"/>
            </a:xfrm>
            <a:prstGeom prst="roundRect">
              <a:avLst>
                <a:gd name="adj" fmla="val 10909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0" y="0"/>
              <a:ext cx="57300" cy="1047900"/>
            </a:xfrm>
            <a:prstGeom prst="roundRect">
              <a:avLst>
                <a:gd name="adj" fmla="val 50000"/>
              </a:avLst>
            </a:prstGeom>
            <a:solidFill>
              <a:srgbClr val="8A2A1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2"/>
            <p:cNvSpPr txBox="1"/>
            <p:nvPr/>
          </p:nvSpPr>
          <p:spPr>
            <a:xfrm>
              <a:off x="209550" y="114300"/>
              <a:ext cx="50007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இளம்பூரணர். தொல்காப்பியம் பொருளதிகார உரை.</a:t>
              </a:r>
              <a:endParaRPr sz="120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22"/>
          <p:cNvGrpSpPr/>
          <p:nvPr/>
        </p:nvGrpSpPr>
        <p:grpSpPr>
          <a:xfrm>
            <a:off x="6263640" y="1965960"/>
            <a:ext cx="5422500" cy="381000"/>
            <a:chOff x="0" y="0"/>
            <a:chExt cx="5422500" cy="381000"/>
          </a:xfrm>
        </p:grpSpPr>
        <p:sp>
          <p:nvSpPr>
            <p:cNvPr id="396" name="Google Shape;396;p22"/>
            <p:cNvSpPr/>
            <p:nvPr/>
          </p:nvSpPr>
          <p:spPr>
            <a:xfrm>
              <a:off x="0" y="0"/>
              <a:ext cx="5422500" cy="381000"/>
            </a:xfrm>
            <a:prstGeom prst="roundRect">
              <a:avLst>
                <a:gd name="adj" fmla="val 50000"/>
              </a:avLst>
            </a:prstGeom>
            <a:solidFill>
              <a:srgbClr val="F0B42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2"/>
            <p:cNvSpPr txBox="1"/>
            <p:nvPr/>
          </p:nvSpPr>
          <p:spPr>
            <a:xfrm>
              <a:off x="0" y="0"/>
              <a:ext cx="542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3436"/>
                  </a:solidFill>
                  <a:latin typeface="Consolas"/>
                  <a:ea typeface="Consolas"/>
                  <a:cs typeface="Consolas"/>
                  <a:sym typeface="Consolas"/>
                </a:rPr>
                <a:t>ஆ. நவீன ஆய்வுக் கட்டுரைகள் · MODERN RESEARCH</a:t>
              </a:r>
              <a:endParaRPr sz="1100" b="1">
                <a:solidFill>
                  <a:srgbClr val="0B343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22"/>
          <p:cNvGrpSpPr/>
          <p:nvPr/>
        </p:nvGrpSpPr>
        <p:grpSpPr>
          <a:xfrm>
            <a:off x="6263640" y="2461260"/>
            <a:ext cx="5422500" cy="781200"/>
            <a:chOff x="0" y="0"/>
            <a:chExt cx="5422500" cy="781200"/>
          </a:xfrm>
        </p:grpSpPr>
        <p:sp>
          <p:nvSpPr>
            <p:cNvPr id="399" name="Google Shape;399;p22"/>
            <p:cNvSpPr/>
            <p:nvPr/>
          </p:nvSpPr>
          <p:spPr>
            <a:xfrm>
              <a:off x="0" y="0"/>
              <a:ext cx="5422500" cy="781200"/>
            </a:xfrm>
            <a:prstGeom prst="roundRect">
              <a:avLst>
                <a:gd name="adj" fmla="val 14634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0" y="0"/>
              <a:ext cx="57300" cy="7812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2"/>
            <p:cNvSpPr txBox="1"/>
            <p:nvPr/>
          </p:nvSpPr>
          <p:spPr>
            <a:xfrm>
              <a:off x="209550" y="95250"/>
              <a:ext cx="50007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Picard, R. W. (1997). Affective Computing. MIT Press.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22"/>
          <p:cNvSpPr/>
          <p:nvPr/>
        </p:nvSpPr>
        <p:spPr>
          <a:xfrm>
            <a:off x="11067700" y="6308700"/>
            <a:ext cx="762000" cy="38100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22"/>
          <p:cNvGrpSpPr/>
          <p:nvPr/>
        </p:nvGrpSpPr>
        <p:grpSpPr>
          <a:xfrm>
            <a:off x="6263640" y="3337560"/>
            <a:ext cx="5422500" cy="781200"/>
            <a:chOff x="0" y="0"/>
            <a:chExt cx="5422500" cy="781200"/>
          </a:xfrm>
        </p:grpSpPr>
        <p:sp>
          <p:nvSpPr>
            <p:cNvPr id="404" name="Google Shape;404;p22"/>
            <p:cNvSpPr/>
            <p:nvPr/>
          </p:nvSpPr>
          <p:spPr>
            <a:xfrm>
              <a:off x="0" y="0"/>
              <a:ext cx="5422500" cy="781200"/>
            </a:xfrm>
            <a:prstGeom prst="roundRect">
              <a:avLst>
                <a:gd name="adj" fmla="val 14634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0" y="0"/>
              <a:ext cx="57300" cy="7812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209550" y="95250"/>
              <a:ext cx="50007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Chandola, V., Banerjee, A., &amp; Kumar, V. (2009). Anomaly detection: A survey. ACM Computing Surveys, 41(3).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p22"/>
          <p:cNvSpPr txBox="1"/>
          <p:nvPr/>
        </p:nvSpPr>
        <p:spPr>
          <a:xfrm>
            <a:off x="11077759" y="6345300"/>
            <a:ext cx="762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B3436"/>
                </a:solidFill>
                <a:latin typeface="Arial"/>
                <a:ea typeface="Arial"/>
                <a:cs typeface="Arial"/>
                <a:sym typeface="Arial"/>
              </a:rPr>
              <a:t>௰</a:t>
            </a:r>
            <a:endParaRPr sz="2000" b="1">
              <a:solidFill>
                <a:srgbClr val="0B343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22"/>
          <p:cNvGrpSpPr/>
          <p:nvPr/>
        </p:nvGrpSpPr>
        <p:grpSpPr>
          <a:xfrm>
            <a:off x="6263640" y="4213860"/>
            <a:ext cx="5422500" cy="781200"/>
            <a:chOff x="0" y="0"/>
            <a:chExt cx="5422500" cy="781200"/>
          </a:xfrm>
        </p:grpSpPr>
        <p:sp>
          <p:nvSpPr>
            <p:cNvPr id="409" name="Google Shape;409;p22"/>
            <p:cNvSpPr/>
            <p:nvPr/>
          </p:nvSpPr>
          <p:spPr>
            <a:xfrm>
              <a:off x="0" y="0"/>
              <a:ext cx="5422500" cy="781200"/>
            </a:xfrm>
            <a:prstGeom prst="roundRect">
              <a:avLst>
                <a:gd name="adj" fmla="val 14634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0" y="0"/>
              <a:ext cx="57300" cy="7812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2"/>
            <p:cNvSpPr txBox="1"/>
            <p:nvPr/>
          </p:nvSpPr>
          <p:spPr>
            <a:xfrm>
              <a:off x="209550" y="95250"/>
              <a:ext cx="50007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Ekman, P., &amp; Friesen, W. V. (1978). Facial Action Coding System. Consulting Psychologists Press.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22"/>
          <p:cNvGrpSpPr/>
          <p:nvPr/>
        </p:nvGrpSpPr>
        <p:grpSpPr>
          <a:xfrm>
            <a:off x="6263640" y="5090160"/>
            <a:ext cx="5422500" cy="743100"/>
            <a:chOff x="0" y="0"/>
            <a:chExt cx="5422500" cy="743100"/>
          </a:xfrm>
        </p:grpSpPr>
        <p:sp>
          <p:nvSpPr>
            <p:cNvPr id="413" name="Google Shape;413;p22"/>
            <p:cNvSpPr/>
            <p:nvPr/>
          </p:nvSpPr>
          <p:spPr>
            <a:xfrm>
              <a:off x="0" y="0"/>
              <a:ext cx="5422500" cy="743100"/>
            </a:xfrm>
            <a:prstGeom prst="roundRect">
              <a:avLst>
                <a:gd name="adj" fmla="val 15384"/>
              </a:avLst>
            </a:prstGeom>
            <a:solidFill>
              <a:srgbClr val="F8F4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0" y="0"/>
              <a:ext cx="57300" cy="743100"/>
            </a:xfrm>
            <a:prstGeom prst="roundRect">
              <a:avLst>
                <a:gd name="adj" fmla="val 50000"/>
              </a:avLst>
            </a:prstGeom>
            <a:solidFill>
              <a:srgbClr val="124F5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2"/>
            <p:cNvSpPr txBox="1"/>
            <p:nvPr/>
          </p:nvSpPr>
          <p:spPr>
            <a:xfrm>
              <a:off x="209550" y="76200"/>
              <a:ext cx="5000700" cy="5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1C1A14"/>
                  </a:solidFill>
                  <a:latin typeface="Arial"/>
                  <a:ea typeface="Arial"/>
                  <a:cs typeface="Arial"/>
                  <a:sym typeface="Arial"/>
                </a:rPr>
                <a:t>Ekman, P. (1992). An argument for basic emotions. Cognition and Emotion, 6(3-4).</a:t>
              </a:r>
              <a:endParaRPr sz="1150" b="0">
                <a:solidFill>
                  <a:srgbClr val="1C1A1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Macintosh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Kangeyan Passoubady</cp:lastModifiedBy>
  <cp:revision>1</cp:revision>
  <dcterms:modified xsi:type="dcterms:W3CDTF">2026-09-16T00:17:42Z</dcterms:modified>
  <dc:creator>Kangeyan Passoubady</dc:creator>
  <dc:title>செய்யறிவும் செம்மொழியும்</dc:title>
  <dc:subject>AI and Classical Language: A Parallel Development Perspective on Meyppaattiyal and Emotion Detection</dc:subject>
  <cp:keywords>Meyppaattiyal, Artificial Intelligence, Affective Computing, Parallel Development</cp:keywords>
  <dc:description/>
  <cp:category>Research paper presentation</cp:category>
</cp:coreProperties>
</file>